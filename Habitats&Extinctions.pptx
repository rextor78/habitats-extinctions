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</p:sldIdLst>
  <p:sldSz cx="1706880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R REX" initials="TR" lastIdx="1" clrIdx="0">
    <p:extLst>
      <p:ext uri="{19B8F6BF-5375-455C-9EA6-DF929625EA0E}">
        <p15:presenceInfo xmlns:p15="http://schemas.microsoft.com/office/powerpoint/2012/main" userId="TOR REX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E58"/>
    <a:srgbClr val="A3A4A6"/>
    <a:srgbClr val="C2C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7897" y="960120"/>
            <a:ext cx="11201400" cy="4160521"/>
          </a:xfrm>
        </p:spPr>
        <p:txBody>
          <a:bodyPr anchor="b">
            <a:normAutofit/>
          </a:bodyPr>
          <a:lstStyle>
            <a:lvl1pPr algn="l">
              <a:defRPr sz="672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7897" y="5381415"/>
            <a:ext cx="8961120" cy="2726266"/>
          </a:xfrm>
        </p:spPr>
        <p:txBody>
          <a:bodyPr anchor="t">
            <a:normAutofit/>
          </a:bodyPr>
          <a:lstStyle>
            <a:lvl1pPr marL="0" indent="0" algn="l">
              <a:buNone/>
              <a:defRPr sz="2940">
                <a:solidFill>
                  <a:schemeClr val="bg2">
                    <a:lumMod val="75000"/>
                  </a:schemeClr>
                </a:solidFill>
              </a:defRPr>
            </a:lvl1pPr>
            <a:lvl2pPr marL="64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11519217" y="11854"/>
            <a:ext cx="5334000" cy="5334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8551439" y="128164"/>
            <a:ext cx="8512917" cy="85129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10130155" y="320040"/>
            <a:ext cx="6934200" cy="6934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10270172" y="45190"/>
            <a:ext cx="6794185" cy="6794185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0983597" y="853442"/>
            <a:ext cx="6080759" cy="608075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90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5988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896" y="2809240"/>
            <a:ext cx="11948161" cy="3194240"/>
          </a:xfrm>
        </p:spPr>
        <p:txBody>
          <a:bodyPr anchor="b">
            <a:normAutofit/>
          </a:bodyPr>
          <a:lstStyle>
            <a:lvl1pPr algn="l">
              <a:defRPr sz="504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898" y="6294120"/>
            <a:ext cx="11948160" cy="2098040"/>
          </a:xfrm>
        </p:spPr>
        <p:txBody>
          <a:bodyPr anchor="t">
            <a:normAutofit/>
          </a:bodyPr>
          <a:lstStyle>
            <a:lvl1pPr marL="0" indent="0" algn="l">
              <a:buNone/>
              <a:defRPr sz="2520">
                <a:solidFill>
                  <a:schemeClr val="bg2">
                    <a:lumMod val="7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929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7896" y="960121"/>
            <a:ext cx="6912717" cy="50613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31387" y="960122"/>
            <a:ext cx="6908271" cy="50613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291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0913" y="960120"/>
            <a:ext cx="6509702" cy="806767"/>
          </a:xfrm>
        </p:spPr>
        <p:txBody>
          <a:bodyPr anchor="b">
            <a:noAutofit/>
          </a:bodyPr>
          <a:lstStyle>
            <a:lvl1pPr marL="0" indent="0">
              <a:buNone/>
              <a:defRPr sz="3920" b="0">
                <a:solidFill>
                  <a:schemeClr val="tx1"/>
                </a:solidFill>
              </a:defRPr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7896" y="1778741"/>
            <a:ext cx="6912717" cy="424275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510692" y="960120"/>
            <a:ext cx="6531188" cy="806767"/>
          </a:xfrm>
        </p:spPr>
        <p:txBody>
          <a:bodyPr anchor="b">
            <a:noAutofit/>
          </a:bodyPr>
          <a:lstStyle>
            <a:lvl1pPr marL="0" indent="0">
              <a:buNone/>
              <a:defRPr sz="3920" b="0">
                <a:solidFill>
                  <a:schemeClr val="tx1"/>
                </a:solidFill>
              </a:defRPr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129163" y="1766887"/>
            <a:ext cx="6900863" cy="424275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799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9190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1800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9017" y="960120"/>
            <a:ext cx="5120640" cy="1920240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898" y="960120"/>
            <a:ext cx="8321041" cy="743204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9017" y="3093719"/>
            <a:ext cx="5120640" cy="2927774"/>
          </a:xfrm>
        </p:spPr>
        <p:txBody>
          <a:bodyPr anchor="t">
            <a:normAutofit/>
          </a:bodyPr>
          <a:lstStyle>
            <a:lvl1pPr marL="0" indent="0">
              <a:buNone/>
              <a:defRPr sz="2240"/>
            </a:lvl1pPr>
            <a:lvl2pPr marL="640080" indent="0">
              <a:buNone/>
              <a:defRPr sz="1680"/>
            </a:lvl2pPr>
            <a:lvl3pPr marL="1280160" indent="0">
              <a:buNone/>
              <a:defRPr sz="1400"/>
            </a:lvl3pPr>
            <a:lvl4pPr marL="1920240" indent="0">
              <a:buNone/>
              <a:defRPr sz="1260"/>
            </a:lvl4pPr>
            <a:lvl5pPr marL="2560320" indent="0">
              <a:buNone/>
              <a:defRPr sz="1260"/>
            </a:lvl5pPr>
            <a:lvl6pPr marL="3200400" indent="0">
              <a:buNone/>
              <a:defRPr sz="1260"/>
            </a:lvl6pPr>
            <a:lvl7pPr marL="3840480" indent="0">
              <a:buNone/>
              <a:defRPr sz="1260"/>
            </a:lvl7pPr>
            <a:lvl8pPr marL="4480560" indent="0">
              <a:buNone/>
              <a:defRPr sz="1260"/>
            </a:lvl8pPr>
            <a:lvl9pPr marL="5120640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1304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1937" y="2026920"/>
            <a:ext cx="8427720" cy="1600200"/>
          </a:xfrm>
        </p:spPr>
        <p:txBody>
          <a:bodyPr anchor="b">
            <a:normAutofit/>
          </a:bodyPr>
          <a:lstStyle>
            <a:lvl1pPr algn="l">
              <a:defRPr sz="39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4617" y="1280160"/>
            <a:ext cx="4593364" cy="64008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240"/>
            </a:lvl1pPr>
            <a:lvl2pPr marL="640080" indent="0">
              <a:buNone/>
              <a:defRPr sz="2240"/>
            </a:lvl2pPr>
            <a:lvl3pPr marL="1280160" indent="0">
              <a:buNone/>
              <a:defRPr sz="2240"/>
            </a:lvl3pPr>
            <a:lvl4pPr marL="1920240" indent="0">
              <a:buNone/>
              <a:defRPr sz="2240"/>
            </a:lvl4pPr>
            <a:lvl5pPr marL="2560320" indent="0">
              <a:buNone/>
              <a:defRPr sz="2240"/>
            </a:lvl5pPr>
            <a:lvl6pPr marL="3200400" indent="0">
              <a:buNone/>
              <a:defRPr sz="2240"/>
            </a:lvl6pPr>
            <a:lvl7pPr marL="3840480" indent="0">
              <a:buNone/>
              <a:defRPr sz="2240"/>
            </a:lvl7pPr>
            <a:lvl8pPr marL="4480560" indent="0">
              <a:buNone/>
              <a:defRPr sz="2240"/>
            </a:lvl8pPr>
            <a:lvl9pPr marL="5120640" indent="0">
              <a:buNone/>
              <a:defRPr sz="22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1937" y="3887893"/>
            <a:ext cx="8429943" cy="2868506"/>
          </a:xfrm>
        </p:spPr>
        <p:txBody>
          <a:bodyPr anchor="t">
            <a:normAutofit/>
          </a:bodyPr>
          <a:lstStyle>
            <a:lvl1pPr marL="0" indent="0">
              <a:buNone/>
              <a:defRPr sz="2520"/>
            </a:lvl1pPr>
            <a:lvl2pPr marL="640080" indent="0">
              <a:buNone/>
              <a:defRPr sz="1680"/>
            </a:lvl2pPr>
            <a:lvl3pPr marL="1280160" indent="0">
              <a:buNone/>
              <a:defRPr sz="1400"/>
            </a:lvl3pPr>
            <a:lvl4pPr marL="1920240" indent="0">
              <a:buNone/>
              <a:defRPr sz="1260"/>
            </a:lvl4pPr>
            <a:lvl5pPr marL="2560320" indent="0">
              <a:buNone/>
              <a:defRPr sz="1260"/>
            </a:lvl5pPr>
            <a:lvl6pPr marL="3200400" indent="0">
              <a:buNone/>
              <a:defRPr sz="1260"/>
            </a:lvl6pPr>
            <a:lvl7pPr marL="3840480" indent="0">
              <a:buNone/>
              <a:defRPr sz="1260"/>
            </a:lvl7pPr>
            <a:lvl8pPr marL="4480560" indent="0">
              <a:buNone/>
              <a:defRPr sz="1260"/>
            </a:lvl8pPr>
            <a:lvl9pPr marL="5120640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639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960120" y="746760"/>
            <a:ext cx="15146337" cy="437388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240"/>
            </a:lvl1pPr>
            <a:lvl2pPr marL="640080" indent="0">
              <a:buNone/>
              <a:defRPr sz="2240"/>
            </a:lvl2pPr>
            <a:lvl3pPr marL="1280160" indent="0">
              <a:buNone/>
              <a:defRPr sz="2240"/>
            </a:lvl3pPr>
            <a:lvl4pPr marL="1920240" indent="0">
              <a:buNone/>
              <a:defRPr sz="2240"/>
            </a:lvl4pPr>
            <a:lvl5pPr marL="2560320" indent="0">
              <a:buNone/>
              <a:defRPr sz="2240"/>
            </a:lvl5pPr>
            <a:lvl6pPr marL="3200400" indent="0">
              <a:buNone/>
              <a:defRPr sz="2240"/>
            </a:lvl6pPr>
            <a:lvl7pPr marL="3840480" indent="0">
              <a:buNone/>
              <a:defRPr sz="2240"/>
            </a:lvl7pPr>
            <a:lvl8pPr marL="4480560" indent="0">
              <a:buNone/>
              <a:defRPr sz="2240"/>
            </a:lvl8pPr>
            <a:lvl9pPr marL="5120640" indent="0">
              <a:buNone/>
              <a:defRPr sz="22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280163" y="5381414"/>
            <a:ext cx="11625894" cy="64008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240"/>
            </a:lvl1pPr>
            <a:lvl2pPr marL="640080" indent="0">
              <a:buFontTx/>
              <a:buNone/>
              <a:defRPr/>
            </a:lvl2pPr>
            <a:lvl3pPr marL="1280160" indent="0">
              <a:buFontTx/>
              <a:buNone/>
              <a:defRPr/>
            </a:lvl3pPr>
            <a:lvl4pPr marL="1920240" indent="0">
              <a:buFontTx/>
              <a:buNone/>
              <a:defRPr/>
            </a:lvl4pPr>
            <a:lvl5pPr marL="25603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2936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898" y="960120"/>
            <a:ext cx="14081760" cy="3840480"/>
          </a:xfrm>
        </p:spPr>
        <p:txBody>
          <a:bodyPr anchor="ctr">
            <a:normAutofit/>
          </a:bodyPr>
          <a:lstStyle>
            <a:lvl1pPr algn="l">
              <a:defRPr sz="448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897" y="5760720"/>
            <a:ext cx="11950383" cy="263144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2">
                    <a:lumMod val="7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4571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976" y="960120"/>
            <a:ext cx="12801601" cy="3840480"/>
          </a:xfrm>
        </p:spPr>
        <p:txBody>
          <a:bodyPr anchor="ctr">
            <a:normAutofit/>
          </a:bodyPr>
          <a:lstStyle>
            <a:lvl1pPr algn="l">
              <a:defRPr sz="448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24697" y="4800600"/>
            <a:ext cx="11948160" cy="5334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640080" indent="0">
              <a:buFontTx/>
              <a:buNone/>
              <a:defRPr/>
            </a:lvl2pPr>
            <a:lvl3pPr marL="1280160" indent="0">
              <a:buFontTx/>
              <a:buNone/>
              <a:defRPr/>
            </a:lvl3pPr>
            <a:lvl4pPr marL="1920240" indent="0">
              <a:buFontTx/>
              <a:buNone/>
              <a:defRPr/>
            </a:lvl4pPr>
            <a:lvl5pPr marL="25603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898" y="6021495"/>
            <a:ext cx="11948160" cy="2358811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2">
                    <a:lumMod val="7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  <p:sp>
        <p:nvSpPr>
          <p:cNvPr id="14" name="TextBox 13"/>
          <p:cNvSpPr txBox="1"/>
          <p:nvPr/>
        </p:nvSpPr>
        <p:spPr>
          <a:xfrm>
            <a:off x="744537" y="1137111"/>
            <a:ext cx="853440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/>
            <a:r>
              <a:rPr lang="en-US" sz="11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99577" y="3876042"/>
            <a:ext cx="853440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 algn="r"/>
            <a:r>
              <a:rPr lang="en-US" sz="11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5150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897" y="4800600"/>
            <a:ext cx="11948160" cy="2376360"/>
          </a:xfrm>
        </p:spPr>
        <p:txBody>
          <a:bodyPr anchor="b">
            <a:normAutofit/>
          </a:bodyPr>
          <a:lstStyle>
            <a:lvl1pPr algn="l">
              <a:defRPr sz="448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895" y="7186173"/>
            <a:ext cx="11950386" cy="1204560"/>
          </a:xfrm>
        </p:spPr>
        <p:txBody>
          <a:bodyPr anchor="t">
            <a:normAutofit/>
          </a:bodyPr>
          <a:lstStyle>
            <a:lvl1pPr marL="0" indent="0" algn="l">
              <a:buNone/>
              <a:defRPr sz="2800">
                <a:solidFill>
                  <a:schemeClr val="bg2">
                    <a:lumMod val="7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8021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978" y="960120"/>
            <a:ext cx="12801600" cy="3840480"/>
          </a:xfrm>
        </p:spPr>
        <p:txBody>
          <a:bodyPr anchor="ctr">
            <a:normAutofit/>
          </a:bodyPr>
          <a:lstStyle>
            <a:lvl1pPr algn="l">
              <a:defRPr sz="448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57898" y="5499948"/>
            <a:ext cx="11948161" cy="14698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36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896" y="6969760"/>
            <a:ext cx="11948161" cy="1422400"/>
          </a:xfrm>
        </p:spPr>
        <p:txBody>
          <a:bodyPr anchor="t">
            <a:normAutofit/>
          </a:bodyPr>
          <a:lstStyle>
            <a:lvl1pPr marL="0" indent="0" algn="l">
              <a:buNone/>
              <a:defRPr sz="2520">
                <a:solidFill>
                  <a:schemeClr val="bg2">
                    <a:lumMod val="7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  <p:sp>
        <p:nvSpPr>
          <p:cNvPr id="11" name="TextBox 10"/>
          <p:cNvSpPr txBox="1"/>
          <p:nvPr/>
        </p:nvSpPr>
        <p:spPr>
          <a:xfrm>
            <a:off x="744537" y="1137111"/>
            <a:ext cx="853440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/>
            <a:r>
              <a:rPr lang="en-US" sz="11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99577" y="3876042"/>
            <a:ext cx="853440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 algn="r"/>
            <a:r>
              <a:rPr lang="en-US" sz="11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3649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898" y="960120"/>
            <a:ext cx="14081760" cy="384048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57897" y="5499948"/>
            <a:ext cx="11948160" cy="11734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36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896" y="6673425"/>
            <a:ext cx="11948161" cy="1718734"/>
          </a:xfrm>
        </p:spPr>
        <p:txBody>
          <a:bodyPr anchor="t">
            <a:normAutofit/>
          </a:bodyPr>
          <a:lstStyle>
            <a:lvl1pPr marL="0" indent="0" algn="l">
              <a:buNone/>
              <a:defRPr sz="2520">
                <a:solidFill>
                  <a:schemeClr val="bg2">
                    <a:lumMod val="7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9817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58141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159297" y="960120"/>
            <a:ext cx="288036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0120" y="960120"/>
            <a:ext cx="10952480" cy="74320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803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2889757" y="4148667"/>
            <a:ext cx="4174601" cy="4492414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7897" y="6282265"/>
            <a:ext cx="11948160" cy="210989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897" y="960121"/>
            <a:ext cx="11948160" cy="5061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66177" y="8641081"/>
            <a:ext cx="2240280" cy="51117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EC77A65-E9FD-486F-AE67-2FCCE21CD1FA}" type="datetimeFigureOut">
              <a:rPr lang="es-ES" smtClean="0"/>
              <a:t>02/07/2021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7897" y="8641081"/>
            <a:ext cx="10561320" cy="51117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508481" y="7809866"/>
            <a:ext cx="1599143" cy="93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8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82784FF-B565-45CB-829B-4F1D770C5EF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33945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640080" rtl="0" eaLnBrk="1" latinLnBrk="0" hangingPunct="1">
        <a:spcBef>
          <a:spcPct val="0"/>
        </a:spcBef>
        <a:buNone/>
        <a:defRPr sz="504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00050" indent="-400050" algn="l" defTabSz="640080" rtl="0" eaLnBrk="1" latinLnBrk="0" hangingPunct="1">
        <a:spcBef>
          <a:spcPct val="20000"/>
        </a:spcBef>
        <a:spcAft>
          <a:spcPts val="84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1040130" indent="-400050" algn="l" defTabSz="640080" rtl="0" eaLnBrk="1" latinLnBrk="0" hangingPunct="1">
        <a:spcBef>
          <a:spcPct val="20000"/>
        </a:spcBef>
        <a:spcAft>
          <a:spcPts val="84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52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680210" indent="-400050" algn="l" defTabSz="640080" rtl="0" eaLnBrk="1" latinLnBrk="0" hangingPunct="1">
        <a:spcBef>
          <a:spcPct val="20000"/>
        </a:spcBef>
        <a:spcAft>
          <a:spcPts val="84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24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2160270" indent="-240030" algn="l" defTabSz="640080" rtl="0" eaLnBrk="1" latinLnBrk="0" hangingPunct="1">
        <a:spcBef>
          <a:spcPct val="20000"/>
        </a:spcBef>
        <a:spcAft>
          <a:spcPts val="84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6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800350" indent="-240030" algn="l" defTabSz="640080" rtl="0" eaLnBrk="1" latinLnBrk="0" hangingPunct="1">
        <a:spcBef>
          <a:spcPct val="20000"/>
        </a:spcBef>
        <a:spcAft>
          <a:spcPts val="84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6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3520440" indent="-320040" algn="l" defTabSz="640080" rtl="0" eaLnBrk="1" latinLnBrk="0" hangingPunct="1">
        <a:spcBef>
          <a:spcPct val="20000"/>
        </a:spcBef>
        <a:spcAft>
          <a:spcPts val="84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6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4160520" indent="-320040" algn="l" defTabSz="640080" rtl="0" eaLnBrk="1" latinLnBrk="0" hangingPunct="1">
        <a:spcBef>
          <a:spcPct val="20000"/>
        </a:spcBef>
        <a:spcAft>
          <a:spcPts val="84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6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4800600" indent="-320040" algn="l" defTabSz="640080" rtl="0" eaLnBrk="1" latinLnBrk="0" hangingPunct="1">
        <a:spcBef>
          <a:spcPct val="20000"/>
        </a:spcBef>
        <a:spcAft>
          <a:spcPts val="84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6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5440680" indent="-320040" algn="l" defTabSz="640080" rtl="0" eaLnBrk="1" latinLnBrk="0" hangingPunct="1">
        <a:spcBef>
          <a:spcPct val="20000"/>
        </a:spcBef>
        <a:spcAft>
          <a:spcPts val="84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6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public.tableau.com/views/Population_16251767757610/Sheet112?:language=en-US&amp;:display_count=n&amp;:origin=viz_share_lin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trello.com/b/zE4X1GgT/habitats-extinctions" TargetMode="External"/><Relationship Id="rId3" Type="http://schemas.openxmlformats.org/officeDocument/2006/relationships/hyperlink" Target="https://www.iucnredlist.org/" TargetMode="External"/><Relationship Id="rId7" Type="http://schemas.openxmlformats.org/officeDocument/2006/relationships/hyperlink" Target="https://github.com/RexTor78/Habitats-Extinctions.git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progrextor/a-little-history-of-our-planet-by-human-actions-7aa083bb5a00" TargetMode="External"/><Relationship Id="rId5" Type="http://schemas.openxmlformats.org/officeDocument/2006/relationships/hyperlink" Target="https://ourworldindata.org/" TargetMode="External"/><Relationship Id="rId4" Type="http://schemas.openxmlformats.org/officeDocument/2006/relationships/hyperlink" Target="https://dataverse.harvard.edu/dataverse/ArchaeoGLOB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BD3E-043A-4660-B08C-2B484A166B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3D926-E1B9-4C3B-B538-60F470AB68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8B9FE3-7669-4A9F-AFCD-A4FFB58D8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5837" y="12106"/>
            <a:ext cx="4992963" cy="33305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32F353-18BC-482C-9312-584FB2D08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039673" cy="3342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93A10F-26E8-411B-B2D2-42BBDC3391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964" y="1"/>
            <a:ext cx="4992964" cy="33305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5BD5DB-AAE4-40E9-88EA-EF238DACA4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39471"/>
            <a:ext cx="5039672" cy="62995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815748-EEF5-40E0-8E8E-4076492925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791" y="3330535"/>
            <a:ext cx="6976009" cy="33305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5B3DE6-0318-4850-AA41-004EC25A9B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147" y="12106"/>
            <a:ext cx="2621381" cy="33184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660D236-45D8-4D17-8500-4B5C5ECA66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09" y="3324306"/>
            <a:ext cx="5159982" cy="63147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A87E8F1-9626-446A-95FB-01DB062177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791" y="6648964"/>
            <a:ext cx="6976009" cy="29900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20D14C-FCAE-40EB-A191-AF837223CFAB}"/>
              </a:ext>
            </a:extLst>
          </p:cNvPr>
          <p:cNvSpPr/>
          <p:nvPr/>
        </p:nvSpPr>
        <p:spPr>
          <a:xfrm rot="21286652">
            <a:off x="1839172" y="3324306"/>
            <a:ext cx="11277126" cy="126525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1">
              <a:avLst>
                <a:gd name="adj1" fmla="val 20000"/>
                <a:gd name="adj2" fmla="val 0"/>
              </a:avLst>
            </a:prstTxWarp>
            <a:spAutoFit/>
          </a:bodyPr>
          <a:lstStyle/>
          <a:p>
            <a:pPr algn="ctr"/>
            <a:r>
              <a:rPr lang="en-US" sz="5400" b="1" spc="50" dirty="0">
                <a:ln w="0"/>
                <a:solidFill>
                  <a:srgbClr val="FEEE58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Is Earth changing for humans actions?</a:t>
            </a:r>
            <a:endParaRPr lang="en-US" sz="5400" b="1" cap="none" spc="50" dirty="0">
              <a:ln w="0"/>
              <a:solidFill>
                <a:srgbClr val="FEEE58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E620D-1531-4968-8398-3797DE3DEFF7}"/>
              </a:ext>
            </a:extLst>
          </p:cNvPr>
          <p:cNvSpPr txBox="1"/>
          <p:nvPr/>
        </p:nvSpPr>
        <p:spPr>
          <a:xfrm>
            <a:off x="10052673" y="5665850"/>
            <a:ext cx="46522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i="1" dirty="0">
                <a:latin typeface="Ink Free" panose="03080402000500000000" pitchFamily="66" charset="0"/>
              </a:rPr>
              <a:t>By Héctor Santos </a:t>
            </a:r>
          </a:p>
          <a:p>
            <a:r>
              <a:rPr lang="es-ES" sz="2800" b="1" i="1" dirty="0">
                <a:latin typeface="Ink Free" panose="03080402000500000000" pitchFamily="66" charset="0"/>
              </a:rPr>
              <a:t>                             01/07/21</a:t>
            </a:r>
          </a:p>
        </p:txBody>
      </p:sp>
    </p:spTree>
    <p:extLst>
      <p:ext uri="{BB962C8B-B14F-4D97-AF65-F5344CB8AC3E}">
        <p14:creationId xmlns:p14="http://schemas.microsoft.com/office/powerpoint/2010/main" val="1090397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Picture 2063">
            <a:extLst>
              <a:ext uri="{FF2B5EF4-FFF2-40B4-BE49-F238E27FC236}">
                <a16:creationId xmlns:a16="http://schemas.microsoft.com/office/drawing/2014/main" id="{D9103E0D-A468-42AC-994E-60F7846C0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51" y="148280"/>
            <a:ext cx="16689898" cy="919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7099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D69258-01B6-473B-AA3B-E6073AF93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33" y="275579"/>
            <a:ext cx="12597050" cy="527979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EACDBE-C95B-4BB2-8076-24FEFBD4E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33" y="5820032"/>
            <a:ext cx="5997689" cy="31372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2A0CDE-4D0D-4941-9A93-6E7B1DA5B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22" y="5820032"/>
            <a:ext cx="5339482" cy="31372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7492AD-3729-49D1-84B4-88DE93E15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8378" y="275579"/>
            <a:ext cx="3891108" cy="25245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F4F0A0-24DB-4851-923E-21BA86EBE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90004" y="5820030"/>
            <a:ext cx="5339482" cy="31372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1C12D2-0590-47B5-B6AB-9B14DBB2FC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0565" y="2800167"/>
            <a:ext cx="3878921" cy="205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9332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E06F8AD8-CA9C-426A-93F8-DADA17A6F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166" y="1"/>
            <a:ext cx="6620468" cy="9601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6674E2-D714-42A2-B063-1B93F55AACDE}"/>
              </a:ext>
            </a:extLst>
          </p:cNvPr>
          <p:cNvSpPr txBox="1"/>
          <p:nvPr/>
        </p:nvSpPr>
        <p:spPr>
          <a:xfrm>
            <a:off x="12257902" y="9231868"/>
            <a:ext cx="4025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view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table </a:t>
            </a:r>
            <a:r>
              <a:rPr lang="es-ES" dirty="0" err="1"/>
              <a:t>ctrl+click</a:t>
            </a:r>
            <a:r>
              <a:rPr lang="es-ES" dirty="0"/>
              <a:t> in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24CED-DB4D-49DC-AF13-71773189FDA7}"/>
              </a:ext>
            </a:extLst>
          </p:cNvPr>
          <p:cNvSpPr txBox="1"/>
          <p:nvPr/>
        </p:nvSpPr>
        <p:spPr>
          <a:xfrm>
            <a:off x="226542" y="308918"/>
            <a:ext cx="4584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sohne"/>
              </a:rPr>
              <a:t>In this table only see the 15 Countries have grown the most and the 15 that least. If you like view all list, click on the link below.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708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981ADE2-89C6-4D31-B566-295D2598A6E0}"/>
              </a:ext>
            </a:extLst>
          </p:cNvPr>
          <p:cNvGrpSpPr/>
          <p:nvPr/>
        </p:nvGrpSpPr>
        <p:grpSpPr>
          <a:xfrm>
            <a:off x="163259" y="161305"/>
            <a:ext cx="16742279" cy="9278589"/>
            <a:chOff x="163260" y="161306"/>
            <a:chExt cx="16742279" cy="927858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A4E33C9-50BA-4492-A7D9-DB3CC4DE8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54BEDE"/>
                </a:clrFrom>
                <a:clrTo>
                  <a:srgbClr val="54BED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572000" y="2856521"/>
              <a:ext cx="12333539" cy="658337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CCAB179-6948-4EC7-86A9-FDCC7179A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54BEDE"/>
                </a:clrFrom>
                <a:clrTo>
                  <a:srgbClr val="54BED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63260" y="161306"/>
              <a:ext cx="9433531" cy="6696695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7446B4D-36EC-4473-BC15-AB5A1F3DA074}"/>
              </a:ext>
            </a:extLst>
          </p:cNvPr>
          <p:cNvSpPr txBox="1"/>
          <p:nvPr/>
        </p:nvSpPr>
        <p:spPr>
          <a:xfrm>
            <a:off x="9729488" y="2181433"/>
            <a:ext cx="7043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Lato,Helvetica Neue,Arial,sans-serif"/>
              </a:rPr>
              <a:t>This visualization shows total land used for agriculture (which is a combination of cropland and grazing land) over the long-term, measured in hectares. 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975374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1CB39B-EBE0-4A63-92FD-51F772094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" y="59022"/>
            <a:ext cx="14462760" cy="931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591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9AFE9A-C5DE-416D-BAF7-A7057DC66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589" y="4796789"/>
            <a:ext cx="7621" cy="76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3A2AD-88D1-47E4-BC2D-39178E43124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51BBDC"/>
              </a:clrFrom>
              <a:clrTo>
                <a:srgbClr val="51BB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9557" y="259600"/>
            <a:ext cx="15158237" cy="91350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D788E9-999D-4C68-BB55-A8FEF439BCB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89006" y="2197582"/>
            <a:ext cx="10406093" cy="740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67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bg2">
                <a:tint val="97000"/>
                <a:hueMod val="92000"/>
                <a:satMod val="169000"/>
                <a:lumMod val="53000"/>
                <a:lumOff val="47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4587C4-3BF3-46CB-BCC4-15C4DB825B9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51BBDC"/>
              </a:clrFrom>
              <a:clrTo>
                <a:srgbClr val="51BB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979" y="310960"/>
            <a:ext cx="15388282" cy="897928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952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7CBE2-261A-4B7E-A3A4-6B3C280FED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72"/>
          <a:stretch/>
        </p:blipFill>
        <p:spPr>
          <a:xfrm>
            <a:off x="667570" y="469557"/>
            <a:ext cx="14349704" cy="28494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D2187D-67A1-43A3-B12B-F708C191B9AA}"/>
              </a:ext>
            </a:extLst>
          </p:cNvPr>
          <p:cNvSpPr txBox="1"/>
          <p:nvPr/>
        </p:nvSpPr>
        <p:spPr>
          <a:xfrm>
            <a:off x="305261" y="7137542"/>
            <a:ext cx="1095203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Some</a:t>
            </a:r>
            <a:r>
              <a:rPr lang="es-ES" dirty="0"/>
              <a:t> Links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like</a:t>
            </a:r>
            <a:r>
              <a:rPr lang="es-ES" dirty="0"/>
              <a:t> </a:t>
            </a:r>
            <a:r>
              <a:rPr lang="es-ES" dirty="0" err="1"/>
              <a:t>view</a:t>
            </a:r>
            <a:r>
              <a:rPr lang="es-ES" dirty="0"/>
              <a:t> a </a:t>
            </a:r>
            <a:r>
              <a:rPr lang="es-ES" dirty="0" err="1"/>
              <a:t>littel</a:t>
            </a:r>
            <a:r>
              <a:rPr lang="es-ES" dirty="0"/>
              <a:t> more </a:t>
            </a:r>
            <a:r>
              <a:rPr lang="es-ES" dirty="0" err="1"/>
              <a:t>or</a:t>
            </a:r>
            <a:r>
              <a:rPr lang="es-ES" dirty="0"/>
              <a:t> more </a:t>
            </a:r>
            <a:r>
              <a:rPr lang="es-ES" dirty="0" err="1"/>
              <a:t>much</a:t>
            </a:r>
            <a:r>
              <a:rPr lang="es-ES" dirty="0"/>
              <a:t>:</a:t>
            </a:r>
          </a:p>
          <a:p>
            <a:r>
              <a:rPr lang="es-ES" dirty="0">
                <a:hlinkClick r:id="rId3"/>
              </a:rPr>
              <a:t>https://www.iucnredlist.org/</a:t>
            </a:r>
            <a:endParaRPr lang="es-ES" dirty="0"/>
          </a:p>
          <a:p>
            <a:r>
              <a:rPr lang="es-ES" dirty="0">
                <a:hlinkClick r:id="rId4"/>
              </a:rPr>
              <a:t>https://dataverse.harvard.edu/dataverse/ArchaeoGLOBE</a:t>
            </a:r>
            <a:endParaRPr lang="es-ES" dirty="0"/>
          </a:p>
          <a:p>
            <a:r>
              <a:rPr lang="es-ES" dirty="0">
                <a:hlinkClick r:id="rId5"/>
              </a:rPr>
              <a:t>https://ourworldindata.org/</a:t>
            </a:r>
            <a:endParaRPr lang="es-ES" dirty="0"/>
          </a:p>
          <a:p>
            <a:r>
              <a:rPr lang="es-ES" dirty="0">
                <a:hlinkClick r:id="rId6"/>
              </a:rPr>
              <a:t>https://medium.com/@progrextor/a-little-history-of-our-planet-by-human-actions-7aa083bb5a00</a:t>
            </a:r>
            <a:endParaRPr lang="es-ES" dirty="0"/>
          </a:p>
          <a:p>
            <a:r>
              <a:rPr lang="es-ES" dirty="0">
                <a:hlinkClick r:id="rId7"/>
              </a:rPr>
              <a:t>https://github.com/RexTor78/Habitats-Extinctions.git</a:t>
            </a:r>
            <a:endParaRPr lang="es-ES" dirty="0"/>
          </a:p>
          <a:p>
            <a:r>
              <a:rPr lang="es-ES" dirty="0">
                <a:hlinkClick r:id="rId8"/>
              </a:rPr>
              <a:t>https://trello.com/b/zE4X1GgT/habitats-extinctions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668399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1312</TotalTime>
  <Words>148</Words>
  <Application>Microsoft Office PowerPoint</Application>
  <PresentationFormat>Custom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Century Gothic</vt:lpstr>
      <vt:lpstr>Ink Free</vt:lpstr>
      <vt:lpstr>Lato,Helvetica Neue,Arial,sans-serif</vt:lpstr>
      <vt:lpstr>sohne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TOR REX</dc:creator>
  <cp:lastModifiedBy>TOR REX</cp:lastModifiedBy>
  <cp:revision>41</cp:revision>
  <dcterms:created xsi:type="dcterms:W3CDTF">2021-06-28T12:09:43Z</dcterms:created>
  <dcterms:modified xsi:type="dcterms:W3CDTF">2021-07-01T23:33:35Z</dcterms:modified>
</cp:coreProperties>
</file>